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C4FF5B-C600-4EDD-B3FF-A748C3D1AB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0002A3-F2AA-40DA-B26D-3092E3A474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F84BCD-0CE6-40EB-9D98-9F67933F1A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716D01-F6E2-4581-9DDD-CA76008C70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95F968-B466-4E93-9506-97EF919912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B7376A-A2C6-4DB6-B51E-C45AC6D33B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085D1A-2920-4115-9EEE-520DFD21FC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867733-F7A3-4649-80FE-738EEFC2B3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869FFC-D72C-4A99-BDB6-35D1CDDFB6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CFA5CA-A285-4A86-8F46-C85BE5E370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D2C96B-BE06-458B-A13C-A24BB1187E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B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502920" y="3246120"/>
            <a:ext cx="2194200" cy="504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760" rIns="90000" bIns="5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02920" y="21488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7FC9BD"/>
                </a:solidFill>
                <a:effectLst/>
                <a:uFillTx/>
                <a:latin typeface="Calibri"/>
              </a:rPr>
              <a:t>PROGRESS REPORT · SESSION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02920" y="2514600"/>
            <a:ext cx="10515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Similarity Index for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Cellular Automata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502920" y="397764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0" i="1" u="none" strike="noStrike">
                <a:solidFill>
                  <a:srgbClr val="C9CFDA"/>
                </a:solidFill>
                <a:effectLst/>
                <a:uFillTx/>
                <a:latin typeface="Calibri"/>
              </a:rPr>
              <a:t>Measuring behavioral similarity between CA rules, from exact classification to a continuous, quantitative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502920" y="598932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9BA3B0"/>
                </a:solidFill>
                <a:effectLst/>
                <a:uFillTx/>
                <a:latin typeface="Calibri"/>
              </a:rPr>
              <a:t>Indian Summer School on Cellular Automata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502920" y="6263640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9BA3B0"/>
                </a:solidFill>
                <a:effectLst/>
                <a:uFillTx/>
                <a:latin typeface="Calibri"/>
              </a:rPr>
              <a:t>August 16, 2026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MOTIVATION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Why "similarity" between rules?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502920" y="1508760"/>
            <a:ext cx="676620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5000"/>
              </a:lnSpc>
            </a:pPr>
            <a:r>
              <a:rPr lang="en-US" sz="16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Conway's Game of Life has a large family of “life-like” </a:t>
            </a:r>
            <a:r>
              <a:rPr lang="en-US" sz="16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rules — different birth/survival sets that produce </a:t>
            </a:r>
            <a:r>
              <a:rPr lang="en-US" sz="16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visually similar behavior.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lang="en-US" sz="16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From random initial configurations these rules often </a:t>
            </a:r>
            <a:r>
              <a:rPr lang="en-US" sz="16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look indistinguishable: it is only specific small patterns </a:t>
            </a:r>
            <a:r>
              <a:rPr lang="en-US" sz="16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(gliders, oscillators, still lifes) that reveal a difference.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lang="en-US" sz="16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This raises the core question of the project: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502920" y="5074920"/>
            <a:ext cx="67662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9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How similar are two CA rules, based on their behavior — and can that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lang="en-US" sz="19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similarity be measured, not just judged by eye?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7"/>
          <p:cNvSpPr/>
          <p:nvPr/>
        </p:nvSpPr>
        <p:spPr>
          <a:xfrm>
            <a:off x="7680960" y="1508760"/>
            <a:ext cx="3977280" cy="4845960"/>
          </a:xfrm>
          <a:prstGeom prst="roundRect">
            <a:avLst>
              <a:gd name="adj" fmla="val 16667"/>
            </a:avLst>
          </a:prstGeom>
          <a:solidFill>
            <a:srgbClr val="E3F2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7955280" y="17830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7955280" y="2148840"/>
            <a:ext cx="347436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5000"/>
              </a:lnSpc>
              <a:spcAft>
                <a:spcPts val="799"/>
              </a:spcAft>
            </a:pP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Primarily 1-dimensional CA rules (elementary CA and generalizations)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799"/>
              </a:spcAft>
            </a:pP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Extended this session to a 2-dimensional case: Conway's Game of Life and life-like variants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799"/>
              </a:spcAft>
            </a:pP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Two complementary questions: are two rules exactly the same? and if not, how different are they?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1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APPROACH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Three methods, one question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ounded Rectangle 5"/>
          <p:cNvSpPr/>
          <p:nvPr/>
        </p:nvSpPr>
        <p:spPr>
          <a:xfrm>
            <a:off x="502920" y="1600200"/>
            <a:ext cx="361152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6"/>
          <p:cNvSpPr/>
          <p:nvPr/>
        </p:nvSpPr>
        <p:spPr>
          <a:xfrm>
            <a:off x="502920" y="1600200"/>
            <a:ext cx="3611520" cy="10944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777240" y="187452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3000" b="1" u="none" strike="noStrike">
                <a:solidFill>
                  <a:srgbClr val="E1E3E7"/>
                </a:solidFill>
                <a:effectLst/>
                <a:uFillTx/>
                <a:latin typeface="Calibri"/>
              </a:rPr>
              <a:t>01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777240" y="25146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Exact / inheritance relations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777240" y="3429000"/>
            <a:ext cx="30628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3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Binary test: do two rules show exactly the same behavior? Built from state permutation, state/neighbor addition-removal.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10"/>
          <p:cNvSpPr/>
          <p:nvPr/>
        </p:nvSpPr>
        <p:spPr>
          <a:xfrm>
            <a:off x="4361760" y="1600200"/>
            <a:ext cx="361152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11"/>
          <p:cNvSpPr/>
          <p:nvPr/>
        </p:nvSpPr>
        <p:spPr>
          <a:xfrm>
            <a:off x="4361760" y="1600200"/>
            <a:ext cx="3611520" cy="109440"/>
          </a:xfrm>
          <a:prstGeom prst="rect">
            <a:avLst/>
          </a:prstGeom>
          <a:solidFill>
            <a:srgbClr val="C96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4636080" y="187452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3000" b="1" u="none" strike="noStrike">
                <a:solidFill>
                  <a:srgbClr val="E1E3E7"/>
                </a:solidFill>
                <a:effectLst/>
                <a:uFillTx/>
                <a:latin typeface="Calibri"/>
              </a:rPr>
              <a:t>02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4636080" y="25146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Evolution graph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4"/>
          <p:cNvSpPr/>
          <p:nvPr/>
        </p:nvSpPr>
        <p:spPr>
          <a:xfrm>
            <a:off x="4636080" y="3429000"/>
            <a:ext cx="30628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3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Continuous measure: canonical form of the transition graph via adjacency-matrix eigenvalues, compared by cosine distance.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5"/>
          <p:cNvSpPr/>
          <p:nvPr/>
        </p:nvSpPr>
        <p:spPr>
          <a:xfrm>
            <a:off x="8220600" y="1600200"/>
            <a:ext cx="361152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16"/>
          <p:cNvSpPr/>
          <p:nvPr/>
        </p:nvSpPr>
        <p:spPr>
          <a:xfrm>
            <a:off x="8220600" y="1600200"/>
            <a:ext cx="3611520" cy="10944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17"/>
          <p:cNvSpPr/>
          <p:nvPr/>
        </p:nvSpPr>
        <p:spPr>
          <a:xfrm>
            <a:off x="8494920" y="187452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3000" b="1" u="none" strike="noStrike">
                <a:solidFill>
                  <a:srgbClr val="E1E3E7"/>
                </a:solidFill>
                <a:effectLst/>
                <a:uFillTx/>
                <a:latin typeface="Calibri"/>
              </a:rPr>
              <a:t>03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8"/>
          <p:cNvSpPr/>
          <p:nvPr/>
        </p:nvSpPr>
        <p:spPr>
          <a:xfrm>
            <a:off x="8494920" y="251460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Spectral moments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8494920" y="3429000"/>
            <a:ext cx="30628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3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Fixed-length cycle-length signature per rule — solves the eigenvalue method's variable-vector-length limitation.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0"/>
          <p:cNvSpPr/>
          <p:nvPr/>
        </p:nvSpPr>
        <p:spPr>
          <a:xfrm>
            <a:off x="502920" y="62636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i="1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Each method was also stress-tested on the 2D case: Conway's Game of Life and life-like variants.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1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2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METHOD 1  ›  INHERITANCE RELATIONS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Four filters for </a:t>
            </a: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exact </a:t>
            </a: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equivalence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502920" y="1371600"/>
            <a:ext cx="10881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Rule 0 and the highest rule are always trivially the same, regardless of neighbors, states or dimensionality. Beyond that trivial case, we found 4 transformations that preserve a rule's exact behavior: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6"/>
          <p:cNvSpPr/>
          <p:nvPr/>
        </p:nvSpPr>
        <p:spPr>
          <a:xfrm>
            <a:off x="502920" y="2148840"/>
            <a:ext cx="5348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7"/>
          <p:cNvSpPr/>
          <p:nvPr/>
        </p:nvSpPr>
        <p:spPr>
          <a:xfrm>
            <a:off x="502920" y="2148840"/>
            <a:ext cx="91080" cy="19656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822960" y="233172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5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State permutation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822960" y="2834640"/>
            <a:ext cx="4845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A bijection between two rules' state sets that preserves every transition. Example: swapping {0,1}→{a,b} identifies rule 01,10 and 31,13 as the same rule wearing different labels.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0"/>
          <p:cNvSpPr/>
          <p:nvPr/>
        </p:nvSpPr>
        <p:spPr>
          <a:xfrm>
            <a:off x="6172200" y="2148840"/>
            <a:ext cx="5348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11"/>
          <p:cNvSpPr/>
          <p:nvPr/>
        </p:nvSpPr>
        <p:spPr>
          <a:xfrm>
            <a:off x="6172200" y="2148840"/>
            <a:ext cx="91080" cy="1965600"/>
          </a:xfrm>
          <a:prstGeom prst="rect">
            <a:avLst/>
          </a:prstGeom>
          <a:solidFill>
            <a:srgbClr val="C96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6492240" y="233172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5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Mirror / inverse rules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3"/>
          <p:cNvSpPr/>
          <p:nvPr/>
        </p:nvSpPr>
        <p:spPr>
          <a:xfrm>
            <a:off x="6492240" y="2834640"/>
            <a:ext cx="4845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Reversing the order of the neighbor positions (a left-right spatial reflection) maps a rule onto an equivalent one — a spatial symmetry of the same behavior.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14"/>
          <p:cNvSpPr/>
          <p:nvPr/>
        </p:nvSpPr>
        <p:spPr>
          <a:xfrm>
            <a:off x="502920" y="4343400"/>
            <a:ext cx="5348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15"/>
          <p:cNvSpPr/>
          <p:nvPr/>
        </p:nvSpPr>
        <p:spPr>
          <a:xfrm>
            <a:off x="502920" y="4343400"/>
            <a:ext cx="91080" cy="19656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6"/>
          <p:cNvSpPr/>
          <p:nvPr/>
        </p:nvSpPr>
        <p:spPr>
          <a:xfrm>
            <a:off x="822960" y="452628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5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Neighbor deletion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7"/>
          <p:cNvSpPr/>
          <p:nvPr/>
        </p:nvSpPr>
        <p:spPr>
          <a:xfrm>
            <a:off x="822960" y="5029200"/>
            <a:ext cx="4845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If the output never actually depends on one neighbor position, that position can be dropped — reducing the neighborhood size without changing behavior.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18"/>
          <p:cNvSpPr/>
          <p:nvPr/>
        </p:nvSpPr>
        <p:spPr>
          <a:xfrm>
            <a:off x="6172200" y="4343400"/>
            <a:ext cx="53488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19"/>
          <p:cNvSpPr/>
          <p:nvPr/>
        </p:nvSpPr>
        <p:spPr>
          <a:xfrm>
            <a:off x="6172200" y="4343400"/>
            <a:ext cx="91080" cy="1965600"/>
          </a:xfrm>
          <a:prstGeom prst="rect">
            <a:avLst/>
          </a:prstGeom>
          <a:solidFill>
            <a:srgbClr val="C96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0"/>
          <p:cNvSpPr/>
          <p:nvPr/>
        </p:nvSpPr>
        <p:spPr>
          <a:xfrm>
            <a:off x="6492240" y="452628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5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State deletion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1"/>
          <p:cNvSpPr/>
          <p:nvPr/>
        </p:nvSpPr>
        <p:spPr>
          <a:xfrm>
            <a:off x="6492240" y="5029200"/>
            <a:ext cx="4845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If the top state's only transition is to </a:t>
            </a:r>
            <a:r>
              <a:rPr lang="en-US" sz="130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state 0, it can be removed, moving </a:t>
            </a:r>
            <a:r>
              <a:rPr lang="en-US" sz="130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the rule to a smaller state space. The </a:t>
            </a:r>
            <a:r>
              <a:rPr lang="en-US" sz="1300" b="0" u="none" strike="noStrike">
                <a:solidFill>
                  <a:srgbClr val="4A525E"/>
                </a:solidFill>
                <a:effectLst/>
                <a:uFillTx/>
                <a:latin typeface="Calibri"/>
              </a:rPr>
              <a:t>reverse (state addition) also holds.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2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3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METHOD 1  ›  INHERITANCE RELATIONS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Moving across rule spaces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502920" y="1508760"/>
            <a:ext cx="603468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5000"/>
              </a:lnSpc>
              <a:spcAft>
                <a:spcPts val="1599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A second relation: adding a state that transitions to 0 moves a rule from an n-state space to an (n+1)-state space without changing its behavior.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599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The reverse (removing a state) only works when 2 structural conditions hold — when it fails, the target rule can still often be reached via the state-permutation graph instead.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599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Chaining both relation types over all tested small spaces produces a connection graph: most paths converge toward the trivial rule, as expected for dimensionless CA.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7"/>
          <p:cNvSpPr/>
          <p:nvPr/>
        </p:nvSpPr>
        <p:spPr>
          <a:xfrm>
            <a:off x="6858000" y="541800"/>
            <a:ext cx="4800600" cy="1972800"/>
          </a:xfrm>
          <a:prstGeom prst="rect">
            <a:avLst/>
          </a:prstGeom>
          <a:noFill/>
          <a:ln>
            <a:solidFill>
              <a:srgbClr val="8A919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6629760" y="571500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200" b="0" i="1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Delete-last-state and minor-inverse-rule relations chained together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"/>
          <p:cNvPicPr/>
          <p:nvPr/>
        </p:nvPicPr>
        <p:blipFill>
          <a:blip r:embed="rId1"/>
          <a:stretch/>
        </p:blipFill>
        <p:spPr>
          <a:xfrm>
            <a:off x="6645240" y="2743200"/>
            <a:ext cx="3413160" cy="274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"/>
          <p:cNvPicPr/>
          <p:nvPr/>
        </p:nvPicPr>
        <p:blipFill>
          <a:blip r:embed="rId2"/>
          <a:stretch/>
        </p:blipFill>
        <p:spPr>
          <a:xfrm rot="21586200">
            <a:off x="6861600" y="576360"/>
            <a:ext cx="4793040" cy="1970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METHOD 2  ›  EVOLUTION GRAPH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From binary match to continuous distance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5"/>
          <p:cNvSpPr/>
          <p:nvPr/>
        </p:nvSpPr>
        <p:spPr>
          <a:xfrm>
            <a:off x="502920" y="1508760"/>
            <a:ext cx="59432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2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Evolve a rule over every possible finite configuration of a space: each configuration is a node, each transition an edge — this is the rule's evolution (transition) graph.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Two graphs that are isomorphic (same shape, different labels) mean the rules are behaviorally equivalent, generalizing method 1.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To go beyond yes/no: take the eigenvalues of each graph's adjacency matrix as a canonical, label-free feature vector, and compare rules with cosine distance between eigenvalue vectors.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Distance 0 ⇒ equivalent rules; small distance ⇒ similar dynamics (e.g. rule 8 behaves like rule 0, just slower).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Picture 6" descr="fig23.png"/>
          <p:cNvPicPr/>
          <p:nvPr/>
        </p:nvPicPr>
        <p:blipFill>
          <a:blip r:embed="rId1"/>
          <a:stretch/>
        </p:blipFill>
        <p:spPr>
          <a:xfrm>
            <a:off x="6720840" y="2103120"/>
            <a:ext cx="5028840" cy="315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Rectangle 7"/>
          <p:cNvSpPr/>
          <p:nvPr/>
        </p:nvSpPr>
        <p:spPr>
          <a:xfrm>
            <a:off x="6708240" y="2090520"/>
            <a:ext cx="5054400" cy="3184200"/>
          </a:xfrm>
          <a:prstGeom prst="rect">
            <a:avLst/>
          </a:prstGeom>
          <a:noFill/>
          <a:ln>
            <a:solidFill>
              <a:srgbClr val="8A919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6629760" y="548640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200" b="0" i="1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Rule 0 and rule 255 (5-cell space): isomorphic transition graphs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9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METHOD 2  ›  EVOLUTION GRAPH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Similarity across all 256 elementary 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0" name="Picture 5" descr="fig27.png"/>
          <p:cNvPicPr/>
          <p:nvPr/>
        </p:nvPicPr>
        <p:blipFill>
          <a:blip r:embed="rId1"/>
          <a:stretch/>
        </p:blipFill>
        <p:spPr>
          <a:xfrm>
            <a:off x="548640" y="1508760"/>
            <a:ext cx="5660280" cy="47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Rectangle 6"/>
          <p:cNvSpPr/>
          <p:nvPr/>
        </p:nvSpPr>
        <p:spPr>
          <a:xfrm>
            <a:off x="536040" y="1496160"/>
            <a:ext cx="5685840" cy="4734360"/>
          </a:xfrm>
          <a:prstGeom prst="rect">
            <a:avLst/>
          </a:prstGeom>
          <a:noFill/>
          <a:ln>
            <a:solidFill>
              <a:srgbClr val="8A919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ounded Rectangle 7"/>
          <p:cNvSpPr/>
          <p:nvPr/>
        </p:nvSpPr>
        <p:spPr>
          <a:xfrm>
            <a:off x="6492240" y="1600200"/>
            <a:ext cx="5166000" cy="4571640"/>
          </a:xfrm>
          <a:prstGeom prst="roundRect">
            <a:avLst>
              <a:gd name="adj" fmla="val 16667"/>
            </a:avLst>
          </a:prstGeom>
          <a:solidFill>
            <a:srgbClr val="E3F2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6766560" y="18288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TWO OPEN PROBLEMS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6766560" y="2240280"/>
            <a:ext cx="461736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0000"/>
              </a:lnSpc>
              <a:spcAft>
                <a:spcPts val="1599"/>
              </a:spcAft>
            </a:pP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Vector length problem: the eigenvalue vector's length equals the graph's node count, so rules can only be compared directly within the same space size.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1599"/>
              </a:spcAft>
            </a:pP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Space-size problem: larger spaces reveal more unique behaviors, but with diminishing returns — what size is “enough” is not obvious.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6766560" y="5394960"/>
            <a:ext cx="4617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50" b="1" i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→ Addressed next by rotation-class graphs and spectral moments.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2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METHOD 2  ›  ROTATION-CLASS GRAPH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A cleaner canonical form — and a debunked artifact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502920" y="1508760"/>
            <a:ext cx="108810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5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Alternative construction: quotient the graph by cyclic rotations of each configuration (e.g. 0001, 0010, 0100, 1000 collapse to one node). Well-defined because the rule is homogeneous and the boundary is cyclic.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Node count now depends only on space size, not on the rule — a step toward comparable vector lengths.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6"/>
          <p:cNvSpPr/>
          <p:nvPr/>
        </p:nvSpPr>
        <p:spPr>
          <a:xfrm>
            <a:off x="502920" y="3749040"/>
            <a:ext cx="10881000" cy="233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5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777240" y="393192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50" b="1" u="none" strike="noStrike">
                <a:solidFill>
                  <a:srgbClr val="C96A2B"/>
                </a:solidFill>
                <a:effectLst/>
                <a:uFillTx/>
                <a:latin typeface="Calibri"/>
              </a:rPr>
              <a:t>FINDING: rules 15, 85, 170, 240 (+ 30 as control)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8"/>
          <p:cNvSpPr/>
          <p:nvPr/>
        </p:nvSpPr>
        <p:spPr>
          <a:xfrm>
            <a:off x="777240" y="4343400"/>
            <a:ext cx="10240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Raw graph (MakeGraph): all 4 rules merge together — but only at even space sizes (2,4,6,8); at odd sizes only 15~85 and 170~240 merge.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Rotation-class graph (MakeGraphRot): the even/odd split disappears — at every tested size, only 15~85 and 170~240 merge, never all 4.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Conclusion: the full 4-rule merge was an artifact of parity in the raw construction, not a real property of the rules.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METHOD 3  ›  SPECTRAL MOMENTS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A fixed-length behavioral signature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502920" y="1508760"/>
            <a:ext cx="10881000" cy="315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5000"/>
              </a:lnSpc>
              <a:spcAft>
                <a:spcPts val="1800"/>
              </a:spcAft>
            </a:pPr>
            <a:r>
              <a:rPr lang="en-US" sz="16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Definition: evolve a rule j steps from every possible configuration, and let m_j be the fraction of configurations that returned to their starting configuration after exactly j steps.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5000"/>
              </a:lnSpc>
              <a:spcAft>
                <a:spcPts val="1800"/>
              </a:spcAft>
            </a:pPr>
            <a:r>
              <a:rPr lang="en-US" sz="16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The result is a vector (m_1, m_2, …, m_j) of fixed length kmax — independent of the rule and of how many nodes its graph has.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5000"/>
              </a:lnSpc>
              <a:spcAft>
                <a:spcPts val="1800"/>
              </a:spcAft>
            </a:pPr>
            <a:r>
              <a:rPr lang="en-US" sz="16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This directly resolves the eigenvalue method's vector-length problem, letting rules from different spaces (state counts, neighborhoods, even dimensions) be compared on equal footing.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5000"/>
              </a:lnSpc>
              <a:spcAft>
                <a:spcPts val="1800"/>
              </a:spcAft>
            </a:pPr>
            <a:r>
              <a:rPr lang="en-US" sz="16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Rule similarity is again cosine distance, now between spectral-moment vectors instead of eigenvalue vectors.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6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METHOD 3  ›  SPECTRAL MOMENTS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How many steps and how much space are enough?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9" name="Picture 5" descr="fig36.png"/>
          <p:cNvPicPr/>
          <p:nvPr/>
        </p:nvPicPr>
        <p:blipFill>
          <a:blip r:embed="rId1"/>
          <a:stretch/>
        </p:blipFill>
        <p:spPr>
          <a:xfrm>
            <a:off x="640080" y="1737360"/>
            <a:ext cx="6674760" cy="376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Rectangle 6"/>
          <p:cNvSpPr/>
          <p:nvPr/>
        </p:nvSpPr>
        <p:spPr>
          <a:xfrm>
            <a:off x="627480" y="1724760"/>
            <a:ext cx="6700320" cy="3789720"/>
          </a:xfrm>
          <a:prstGeom prst="rect">
            <a:avLst/>
          </a:prstGeom>
          <a:noFill/>
          <a:ln>
            <a:solidFill>
              <a:srgbClr val="8A919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7"/>
          <p:cNvSpPr/>
          <p:nvPr/>
        </p:nvSpPr>
        <p:spPr>
          <a:xfrm>
            <a:off x="640080" y="5623560"/>
            <a:ext cx="6674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200" b="0" i="1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Unique behaviors found, as a function of step count and space size (ECA)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8"/>
          <p:cNvSpPr/>
          <p:nvPr/>
        </p:nvSpPr>
        <p:spPr>
          <a:xfrm>
            <a:off x="7680960" y="1737360"/>
            <a:ext cx="3977280" cy="4297320"/>
          </a:xfrm>
          <a:prstGeom prst="roundRect">
            <a:avLst>
              <a:gd name="adj" fmla="val 16667"/>
            </a:avLst>
          </a:prstGeom>
          <a:solidFill>
            <a:srgbClr val="E3F2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9"/>
          <p:cNvSpPr/>
          <p:nvPr/>
        </p:nvSpPr>
        <p:spPr>
          <a:xfrm>
            <a:off x="7955280" y="2011680"/>
            <a:ext cx="3474360" cy="276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0000"/>
              </a:lnSpc>
              <a:spcAft>
                <a:spcPts val="1400"/>
              </a:spcAft>
            </a:pP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Repeating the similarity-matrix experiment while varying step count (2–16) shows how many distinct behaviors the method can tell apart.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1400"/>
              </a:spcAft>
            </a:pP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Sweeping space size at the same time locates the region (in red) where more than 60 unique behaviors are resolved — i.e. where the method has “enough resolution” to be useful.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0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1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2D EXTENSION  ›  GAME OF LIFE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Does the method generalize to 2 dimensions?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5"/>
          <p:cNvSpPr/>
          <p:nvPr/>
        </p:nvSpPr>
        <p:spPr>
          <a:xfrm>
            <a:off x="502920" y="1508760"/>
            <a:ext cx="108810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0000"/>
              </a:lnSpc>
              <a:spcAft>
                <a:spcPts val="1400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Same two constructions (functional-graph quotient, spectral moments) applied to Conway's Life on a toroidal grid with a Moore (8-cell) neighborhood.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1400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Symmetry quotient generalizes naturally: instead of cyclic rotations (1D), we quotient by toroidal translations in x and y.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1400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Implementation validated against known Life patterns first: a block (still life) stays fixed, and a horizontal blinker correctly rotates to vertical.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1400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Test bed: 4x4 toroidal grid (2^16 = 65,536 configurations — the same scale already validated at 1D size 16), comparing standard Life (B3/S23) against two variants: Life+S8 (B3/S238) and Life+B8 (B38/S23).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2D EXTENSION  ›  GAME OF LIFE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Life, Life+S8, </a:t>
            </a: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Life+B8: cosine </a:t>
            </a: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distance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97" name="Table 5"/>
          <p:cNvGraphicFramePr/>
          <p:nvPr/>
        </p:nvGraphicFramePr>
        <p:xfrm>
          <a:off x="502920" y="1600200"/>
          <a:ext cx="6491880" cy="18288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118872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Rule A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Rule B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Distance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41B2E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Life (B3/S23)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Life+S8 (B3/S238)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0.000516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Life (B3/S23)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Life+B8 (B38/S23)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0.000000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Life+S8 (B3/S238)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Life+B8 (B38/S23)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0.000516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8" name="Rounded Rectangle 6"/>
          <p:cNvSpPr/>
          <p:nvPr/>
        </p:nvSpPr>
        <p:spPr>
          <a:xfrm>
            <a:off x="502920" y="3794760"/>
            <a:ext cx="10881000" cy="2285640"/>
          </a:xfrm>
          <a:prstGeom prst="roundRect">
            <a:avLst>
              <a:gd name="adj" fmla="val 16667"/>
            </a:avLst>
          </a:prstGeom>
          <a:solidFill>
            <a:srgbClr val="E3F2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7"/>
          <p:cNvSpPr/>
          <p:nvPr/>
        </p:nvSpPr>
        <p:spPr>
          <a:xfrm>
            <a:off x="777240" y="4023360"/>
            <a:ext cx="10240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KEY FINDING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8"/>
          <p:cNvSpPr/>
          <p:nvPr/>
        </p:nvSpPr>
        <p:spPr>
          <a:xfrm>
            <a:off x="777240" y="4434840"/>
            <a:ext cx="102409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5000"/>
              </a:lnSpc>
            </a:pP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Life and Life+B8 are indistinguishable at this grid size (distance 0): reviving a cell only when all 8 neighbors are alive never changes the graph's cycle structure once quotiented. The survival-side change (Life+S8) has a small but non-zero effect — suggesting survival rules matter more structurally than birth rules here, on a 4x4 toroidal grid.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0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2D EXTENSION  ›  6X6 PROBABILISTIC SAMPLING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Scaling up: when exact enumeration breaks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5"/>
          <p:cNvSpPr/>
          <p:nvPr/>
        </p:nvSpPr>
        <p:spPr>
          <a:xfrm>
            <a:off x="502920" y="1508760"/>
            <a:ext cx="1088100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8000"/>
              </a:lnSpc>
              <a:spcAft>
                <a:spcPts val="1400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At 6x6 (36 cells), exact enumeration is infeasible: 2^36 ≈ 68.7 billion raw states, and even the translation-quotiented graph has ≈ 1.9 billion nodes — neither fits in memory.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8000"/>
              </a:lnSpc>
              <a:spcAft>
                <a:spcPts val="1400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Solution: Monte Carlo estimation. Sample random configurations, run a transient so each settles onto its attractor, then measure recurrence time — the fraction of samples recurring within j steps estimates m_j directly.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8000"/>
              </a:lnSpc>
              <a:spcAft>
                <a:spcPts val="1400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Sampling parameters: 3,000 samples per rule, 200-step transient, 150-step cap to detect a period (unresolved beyond that).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8000"/>
              </a:lnSpc>
              <a:spcAft>
                <a:spcPts val="1400"/>
              </a:spcAft>
            </a:pPr>
            <a:r>
              <a:rPr lang="en-US" sz="15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Tested 5 rules: 3 Moore-neighborhood, life-like rules (same family as Life) and 2 Von Neumann-neighborhood rules (4 neighbors — outside the life-like family by definition), across both graph constructions (raw and translation-quotiented).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6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7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2D EXTENSION  ›  6X6 PROBABILISTIC SAMPLING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Neighborhood type, not the B/S set, drives similarity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4" name="Picture 5" descr="fig49.png"/>
          <p:cNvPicPr/>
          <p:nvPr/>
        </p:nvPicPr>
        <p:blipFill>
          <a:blip r:embed="rId1"/>
          <a:stretch/>
        </p:blipFill>
        <p:spPr>
          <a:xfrm>
            <a:off x="502920" y="1554480"/>
            <a:ext cx="5623200" cy="260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ectangle 6"/>
          <p:cNvSpPr/>
          <p:nvPr/>
        </p:nvSpPr>
        <p:spPr>
          <a:xfrm>
            <a:off x="490320" y="1541880"/>
            <a:ext cx="5648760" cy="2630520"/>
          </a:xfrm>
          <a:prstGeom prst="rect">
            <a:avLst/>
          </a:prstGeom>
          <a:noFill/>
          <a:ln>
            <a:solidFill>
              <a:srgbClr val="8A919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16" name="Picture 7" descr="fig51.png"/>
          <p:cNvPicPr/>
          <p:nvPr/>
        </p:nvPicPr>
        <p:blipFill>
          <a:blip r:embed="rId2"/>
          <a:stretch/>
        </p:blipFill>
        <p:spPr>
          <a:xfrm>
            <a:off x="6355080" y="1554480"/>
            <a:ext cx="5074560" cy="453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Rectangle 8"/>
          <p:cNvSpPr/>
          <p:nvPr/>
        </p:nvSpPr>
        <p:spPr>
          <a:xfrm>
            <a:off x="6342480" y="1541880"/>
            <a:ext cx="5100120" cy="4557240"/>
          </a:xfrm>
          <a:prstGeom prst="rect">
            <a:avLst/>
          </a:prstGeom>
          <a:noFill/>
          <a:ln>
            <a:solidFill>
              <a:srgbClr val="8A919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ounded Rectangle 9"/>
          <p:cNvSpPr/>
          <p:nvPr/>
        </p:nvSpPr>
        <p:spPr>
          <a:xfrm>
            <a:off x="502920" y="5349240"/>
            <a:ext cx="10926720" cy="1142640"/>
          </a:xfrm>
          <a:prstGeom prst="roundRect">
            <a:avLst>
              <a:gd name="adj" fmla="val 16667"/>
            </a:avLst>
          </a:prstGeom>
          <a:solidFill>
            <a:srgbClr val="E3F2E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0"/>
          <p:cNvSpPr/>
          <p:nvPr/>
        </p:nvSpPr>
        <p:spPr>
          <a:xfrm>
            <a:off x="777240" y="54680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The 3 Moore-neighborhood (life-like) rules cluster tightly (cosine distance ≈ 0.0001–0.0065), while both Von Neumann rules sit far away (≈ 0.05–0.09). Both graph constructions agree closely except for VonNeumann B13/S2 — also the only rule with ~24% of samples unresolved within the step cap, hinting at long-period or chaotic dynamics.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1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2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SUMMARY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Where the project stands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502920" y="1508760"/>
            <a:ext cx="10881000" cy="29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0000"/>
              </a:lnSpc>
              <a:spcAft>
                <a:spcPts val="1599"/>
              </a:spcAft>
            </a:pPr>
            <a:r>
              <a:rPr lang="en-US" sz="16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Built a full pipeline from exact behavioral equivalence (state permutation, state/neighbor relations) to a continuous similarity measure (eigenvalue vectors, then spectral moments).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1599"/>
              </a:spcAft>
            </a:pPr>
            <a:r>
              <a:rPr lang="en-US" sz="16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Spectral moments solve the eigenvalue method's key limitation — fixed vector length — enabling comparison across spaces of different size, state count, and even dimensionality.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1599"/>
              </a:spcAft>
            </a:pPr>
            <a:r>
              <a:rPr lang="en-US" sz="16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Rotation/translation-class graphs give a cleaner canonical form and correctly identified a parity artifact in an earlier finding (the {15,85,170,240} “full merge”), replacing it with the real result: only 15~85 and 170~240 merge.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Aft>
                <a:spcPts val="1599"/>
              </a:spcAft>
            </a:pPr>
            <a:r>
              <a:rPr lang="en-US" sz="16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Extended and validated the whole approach in 2D, up to a 6x6 grid via Monte Carlo sampling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6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7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BF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502920" y="292680"/>
            <a:ext cx="8686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1B7A6E"/>
                </a:solidFill>
                <a:effectLst/>
                <a:uFillTx/>
                <a:latin typeface="Calibri"/>
              </a:rPr>
              <a:t>NEXT STEPS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"/>
          <p:cNvSpPr/>
          <p:nvPr/>
        </p:nvSpPr>
        <p:spPr>
          <a:xfrm>
            <a:off x="502920" y="567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Toward the research paper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4"/>
          <p:cNvSpPr/>
          <p:nvPr/>
        </p:nvSpPr>
        <p:spPr>
          <a:xfrm>
            <a:off x="502920" y="1225440"/>
            <a:ext cx="1005480" cy="37800"/>
          </a:xfrm>
          <a:prstGeom prst="rect">
            <a:avLst/>
          </a:prstGeom>
          <a:solidFill>
            <a:srgbClr val="1B7A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5"/>
          <p:cNvSpPr/>
          <p:nvPr/>
        </p:nvSpPr>
        <p:spPr>
          <a:xfrm>
            <a:off x="502920" y="1508760"/>
            <a:ext cx="10881000" cy="24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32000"/>
              </a:lnSpc>
              <a:spcAft>
                <a:spcPts val="1800"/>
              </a:spcAft>
            </a:pPr>
            <a:r>
              <a:rPr lang="en-US" sz="16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Consolidate the three methods and their findings into a single manuscript, strengthening the theoretical grounding behind each (formal definitions, proofs of well-definedness for the quotient constructions, error bounds for Monte Carlo sampling).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2000"/>
              </a:lnSpc>
              <a:spcAft>
                <a:spcPts val="1800"/>
              </a:spcAft>
            </a:pPr>
            <a:r>
              <a:rPr lang="en-US" sz="16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Push the spectral-moments comparison to larger, systematic sweeps (more rules, more space sizes) now that step/space resolution has been characterized.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2000"/>
              </a:lnSpc>
              <a:spcAft>
                <a:spcPts val="1800"/>
              </a:spcAft>
            </a:pPr>
            <a:r>
              <a:rPr lang="en-US" sz="16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•  Extend the 2D Monte Carlo study beyond 5 rules to a broader life-like/non-life-like sample, to test how robust the neighborhood-dominates-similarity finding is.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10881360" y="64738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7"/>
          <p:cNvSpPr/>
          <p:nvPr/>
        </p:nvSpPr>
        <p:spPr>
          <a:xfrm>
            <a:off x="502920" y="6473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0" u="none" strike="noStrike">
                <a:solidFill>
                  <a:srgbClr val="8A919C"/>
                </a:solidFill>
                <a:effectLst/>
                <a:uFillTx/>
                <a:latin typeface="Calibri"/>
              </a:rPr>
              <a:t>CA Similarity Index — Progress Report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cp:lastPrinted>2026-08-15T23:17:49Z</cp:lastPrinted>
  <dcterms:modified xsi:type="dcterms:W3CDTF">2026-08-15T23:20:41Z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